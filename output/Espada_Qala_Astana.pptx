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645920" cy="7315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AFF"/>
                </a:solidFill>
              </a:defRPr>
            </a:pPr>
            <a:r>
              <a:t>BUILD WITH AI · ТРЕК 1: НИЦ SMART CITY &amp; GDG ASTANA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QALA ASTANA 2.0</a:t>
            </a:r>
          </a:p>
          <a:p>
            <a:pPr>
              <a:defRPr sz="2200" b="1">
                <a:solidFill>
                  <a:srgbClr val="2EE09A"/>
                </a:solidFill>
              </a:defRPr>
            </a:pPr>
            <a:r>
              <a:t>Интеллектуальный RAG-гид по прогулкам нового поколения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6ADD1"/>
                </a:solidFill>
              </a:defRPr>
            </a:pPr>
            <a:r>
              <a:t>Гибридный советчик по городской среде Астаны: соединяет строгий Retrieval по 821 POI OpenStreetMap, алгоритм пешеходной доступности и генерацию мотиваций («Почему») и планов («Что делать») на базе DeepSeek-V3.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251460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AFF"/>
                </a:solidFill>
              </a:defRPr>
            </a:pPr>
            <a:r>
              <a:t>⚡ 821 POI Астаны</a:t>
            </a:r>
          </a:p>
          <a:p>
            <a:pPr>
              <a:defRPr sz="1000">
                <a:solidFill>
                  <a:srgbClr val="96ADD1"/>
                </a:solidFill>
              </a:defRPr>
            </a:pPr>
            <a:r>
              <a:t>Автоматический сбор и обогащение из OpenStreetMap Overpass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4846320"/>
            <a:ext cx="251460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E09A"/>
                </a:solidFill>
              </a:defRPr>
            </a:pPr>
            <a:r>
              <a:t>🧠 DeepSeek-V3 + Local</a:t>
            </a:r>
          </a:p>
          <a:p>
            <a:pPr>
              <a:defRPr sz="1000">
                <a:solidFill>
                  <a:srgbClr val="96ADD1"/>
                </a:solidFill>
              </a:defRPr>
            </a:pPr>
            <a:r>
              <a:t>Двухрежимная RAG генерация с нулевыми галлюцинациями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4846320"/>
            <a:ext cx="251460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C436"/>
                </a:solidFill>
              </a:defRPr>
            </a:pPr>
            <a:r>
              <a:t>🎯 5 из 5 Стретч-целей</a:t>
            </a:r>
          </a:p>
          <a:p>
            <a:pPr>
              <a:defRPr sz="1000">
                <a:solidFill>
                  <a:srgbClr val="96ADD1"/>
                </a:solidFill>
              </a:defRPr>
            </a:pPr>
            <a:r>
              <a:t>Мини-маршруты, KZ/RU/EN, инклюзивность, группы, афиша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69096" y="4846320"/>
            <a:ext cx="251460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A68FF"/>
                </a:solidFill>
              </a:defRPr>
            </a:pPr>
            <a:r>
              <a:t>🛡️ Zero Retention</a:t>
            </a:r>
          </a:p>
          <a:p>
            <a:pPr>
              <a:defRPr sz="1000">
                <a:solidFill>
                  <a:srgbClr val="96ADD1"/>
                </a:solidFill>
              </a:defRPr>
            </a:pPr>
            <a:r>
              <a:t>100% конфиденциальность: координаты не сохраняются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436"/>
                </a:solidFill>
              </a:defRPr>
            </a:pPr>
            <a:r>
              <a:t>Разработано командой ESPADA · Build with 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КОНЦЕПЦИЯ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Проблема пользователя и решение команды Espada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02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141E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464"/>
                </a:solidFill>
              </a:defRPr>
            </a:pPr>
            <a:r>
              <a:t>❌ КАК ЕСТЬ СЕЙЧАС (БОЛИ)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Сотни слепых точек на картах:</a:t>
            </a:r>
          </a:p>
          <a:p>
            <a:pPr>
              <a:defRPr sz="1100">
                <a:solidFill>
                  <a:srgbClr val="D2AAAA"/>
                </a:solidFill>
              </a:defRPr>
            </a:pPr>
            <a:r>
              <a:t>  2GIS и Google Maps вываливают десятки маркеров. Пользователь тратит 15 минут на чтение чужих отзывов вместо прогулки.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Галлюцинации стандартных LLM:</a:t>
            </a:r>
          </a:p>
          <a:p>
            <a:pPr>
              <a:defRPr sz="1100">
                <a:solidFill>
                  <a:srgbClr val="D2AAAA"/>
                </a:solidFill>
              </a:defRPr>
            </a:pPr>
            <a:r>
              <a:t>  ChatGPT и базовые боты уверенно придумывают закрытые заведения, путают расстояния и не знают погоду Астаны.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Ограничение по времени (30–60 мин):</a:t>
            </a:r>
          </a:p>
          <a:p>
            <a:pPr>
              <a:defRPr sz="1100">
                <a:solidFill>
                  <a:srgbClr val="D2AAAA"/>
                </a:solidFill>
              </a:defRPr>
            </a:pPr>
            <a:r>
              <a:t>  Ни один навигатор не понимает запрос: «У меня 45 минут между встречами, где выпить кофе с розеткой и успеть вернуться».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Слепая уверенность в статусах:</a:t>
            </a:r>
          </a:p>
          <a:p>
            <a:pPr>
              <a:defRPr sz="1100">
                <a:solidFill>
                  <a:srgbClr val="D2AAAA"/>
                </a:solidFill>
              </a:defRPr>
            </a:pPr>
            <a:r>
              <a:t>  Боты пишут «открыто прямо сейчас», когда место уже на ремонте или имеет санитарный день.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0202C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E09A"/>
                </a:solidFill>
              </a:defRPr>
            </a:pPr>
            <a:r>
              <a:t>✅ КАК РЕШАЕТ QALA ASTANA (ESPADA)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Готовый сценарий за 1 секунду:</a:t>
            </a:r>
          </a:p>
          <a:p>
            <a:pPr>
              <a:defRPr sz="1100">
                <a:solidFill>
                  <a:srgbClr val="AAE1C8"/>
                </a:solidFill>
              </a:defRPr>
            </a:pPr>
            <a:r>
              <a:t>  Выдача 1–3 идеальных мест с обоснованием («Почему») и конкретным планом («Что сделать там»).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Строгий двухэтапный RAG:</a:t>
            </a:r>
          </a:p>
          <a:p>
            <a:pPr>
              <a:defRPr sz="1100">
                <a:solidFill>
                  <a:srgbClr val="AAE1C8"/>
                </a:solidFill>
              </a:defRPr>
            </a:pPr>
            <a:r>
              <a:t>  Retrieval по 821 проверенному POI Астаны + генерация DeepSeek-V3 строго в рамках контекста без вымысла.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Учёт контекста Астаны (UTC+5):</a:t>
            </a:r>
          </a:p>
          <a:p>
            <a:pPr>
              <a:defRPr sz="1100">
                <a:solidFill>
                  <a:srgbClr val="AAE1C8"/>
                </a:solidFill>
              </a:defRPr>
            </a:pPr>
            <a:r>
              <a:t>  Система знает время суток: днем ведет на аллеи и выставки, вечером — к иллюминации Экспо и видовым лаунжам.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Честная степень уверенности:</a:t>
            </a:r>
          </a:p>
          <a:p>
            <a:pPr>
              <a:defRPr sz="1100">
                <a:solidFill>
                  <a:srgbClr val="AAE1C8"/>
                </a:solidFill>
              </a:defRPr>
            </a:pPr>
            <a:r>
              <a:t>  Дисклеймер на часах работы, разделение источников («Данные POI» vs «Текст ИИ») и нулевое логирование GPS.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ТЕХНОЛОГИЧЕСКИЙ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Архитектура двухэтапного RAG-пайплайна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03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AFF"/>
                </a:solidFill>
              </a:defRPr>
            </a:pPr>
            <a:r>
              <a:t>1. СБОР &amp; ОБОГАЩЕНИЕ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Автоматизация данных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OpenStreetMap Overpass API (BBOX Астаны)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Обогащение тегами: розетки, Wi-Fi, пандусы, события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821 валидированная точка интереса в JSON-кэше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In-memory mtime кэширование без задержек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44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494FF"/>
                </a:solidFill>
              </a:defRPr>
            </a:pPr>
            <a:r>
              <a:t>2. RETRIEVAL (ПОИСК)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Гибридное ранжирование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Лексический BM25 + семантический интент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Spatial Decay: затухание веса с дистанцией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Жёсткие фильтры: дети, группы, ночь, коляски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Расчёт пешеходной матрицы и таймингов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E09A"/>
                </a:solidFill>
              </a:defRPr>
            </a:pPr>
            <a:r>
              <a:t>3. GENERATION (ИИ)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Генерация рекомендаций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Dual-engine: DeepSeek-V3 (флагман) / Local RAG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Контекст времени Астаны (UTC+5: вечер/день)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Синтез «Почему подходит» (краткая мотивация)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Синтез «Что делать там» (пошаговый план)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ТЕСТИРОВАНИЕ И 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Проверка официальных сценариев из ТЗ хакатона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04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4124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AFF"/>
                </a:solidFill>
              </a:defRPr>
            </a:pPr>
            <a:r>
              <a:t>🛍️ Mega Silk Way (30–60 мин)</a:t>
            </a:r>
            <a:r>
              <a:rPr sz="1000" b="0">
                <a:solidFill>
                  <a:srgbClr val="96ADD1"/>
                </a:solidFill>
              </a:rPr>
              <a:t>  [Локация: Expo / Mega Silk Way (51.0891, 71.4073)]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Система выбирает ТРЦ Mega Silk Way (1 мин), Линейный парк Expo (7 мин) и Музей «Нұр Әлем» (9 мин). Точный расчет времени, шагов и калорий.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84124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E09A"/>
                </a:solidFill>
              </a:defRPr>
            </a:pPr>
            <a:r>
              <a:t>☕ Кофе и розетка</a:t>
            </a:r>
            <a:r>
              <a:rPr sz="1000" b="0">
                <a:solidFill>
                  <a:srgbClr val="96ADD1"/>
                </a:solidFill>
              </a:rPr>
              <a:t>  [Локация: Центр Астаны (51.1352, 71.4241)]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Фильтрация кафе с подтвержденными розетками и тишиной для ноутбука: Кафе «Көктем» (Коктем), Zebra Coffee. Никаких выдуманных удобств.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11296"/>
            <a:ext cx="10698480" cy="84124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C436"/>
                </a:solidFill>
              </a:defRPr>
            </a:pPr>
            <a:r>
              <a:t>👶 С ребёнком (площадки / музей)</a:t>
            </a:r>
            <a:r>
              <a:rPr sz="1000" b="0">
                <a:solidFill>
                  <a:srgbClr val="96ADD1"/>
                </a:solidFill>
              </a:rPr>
              <a:t>  [Локация: Экспо (51.0898, 71.4147)]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Интерактивный парк Happylon Ocean Park в ТРЦ + 8 этажей науки в сфере «Нұр Әлем». Фильтр kids_friendly гарантирует безопасность.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43984"/>
            <a:ext cx="10698480" cy="84124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A68FF"/>
                </a:solidFill>
              </a:defRPr>
            </a:pPr>
            <a:r>
              <a:t>✈️ Перед вылетом (Аэропорт)</a:t>
            </a:r>
            <a:r>
              <a:rPr sz="1000" b="0">
                <a:solidFill>
                  <a:srgbClr val="96ADD1"/>
                </a:solidFill>
              </a:rPr>
              <a:t>  [Краевой случай: 51.0250, 71.4650]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Честное информирование: система НЕ галлюцинирует ложные места у кромки карты, а сообщает о границе данных и советует сдвинуться в зону.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10698480" cy="84124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44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94FF"/>
                </a:solidFill>
              </a:defRPr>
            </a:pPr>
            <a:r>
              <a:t>🌙 Ночная активность (вечер)</a:t>
            </a:r>
            <a:r>
              <a:rPr sz="1000" b="0">
                <a:solidFill>
                  <a:srgbClr val="96ADD1"/>
                </a:solidFill>
              </a:rPr>
              <a:t>  [Локация: Hilton Expo (51.0872, 71.4180)]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The Cloud Bar на крыше Hilton до 02:00, ночные пабы и вечерняя подсветка сферы Expo. Привязка к часам работы заведений.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КРЕАТИВНОСТЬ И ИННОВАЦИИ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Выполнение стретч-целей (Бонусные баллы)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05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AFF"/>
                </a:solidFill>
              </a:defRPr>
            </a:pPr>
            <a:r>
              <a:t>🗺️ Мини-маршрут (3 точки)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Последовательный маршрут: Старт ➔ Кульминация ➔ Финал. Подсчет времени каждого перехода, суммарный километраж, шаги и ккал.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16636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E09A"/>
                </a:solidFill>
              </a:defRPr>
            </a:pPr>
            <a:r>
              <a:t>🌐 Мультиязычность (3 языка)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Полная поддержка Казахского (Қазақша), Русского и Английского языков. Аутентичная генерация DeepSeek на родном языке запроса.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16636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C436"/>
                </a:solidFill>
              </a:defRPr>
            </a:pPr>
            <a:r>
              <a:t>👥 Группы (3–5 человек)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Алгоритм подбора заведений с вместительными столами, лаунж-зонами и парковыми маршрутами для компании друзей или коллег.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16636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A68FF"/>
                </a:solidFill>
              </a:defRPr>
            </a:pPr>
            <a:r>
              <a:t>♿ Доступная среда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Фильтрация объектов с подтвержденными пандусами и безбарьерным входом (wheelchair=yes) для маломобильных граждан и мам с колясками.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44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94FF"/>
                </a:solidFill>
              </a:defRPr>
            </a:pPr>
            <a:r>
              <a:t>🎭 Городская афиша событий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Интеграция временных выставок, фестивалей робототехники, ярмарок дизайнеров и вечерней подсветки монументов Астаны.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БЕЗОПАСНОСТЬ И ДОВЕРИЕ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Этика, Privacy и ответственный искусственный интеллект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AFF"/>
                </a:solidFill>
              </a:defRPr>
            </a:pPr>
            <a:r>
              <a:t>🛡️ Zero Retention (Приватность геоданных)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Координаты пользователя обрабатываются строго в оперативной памяти (RAM) в момент запроса. Никакие координаты НЕ сохраняются в базу данных, НЕ логируются на диск и НЕ передаются третьим лицам.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61488"/>
            <a:ext cx="10698480" cy="102412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E09A"/>
                </a:solidFill>
              </a:defRPr>
            </a:pPr>
            <a:r>
              <a:t>🏷️ Честное разделение источников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В каждой карточке пользователь видит четкую маркировку: «Факты: OpenStreetMap &amp; Городской реестр POI» vs «Идея: DeepSeek-V3 / Local RAG». Мы не выдаем фантазии модели за реальные городские факты.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77056"/>
            <a:ext cx="10698480" cy="102412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C436"/>
                </a:solidFill>
              </a:defRPr>
            </a:pPr>
            <a:r>
              <a:t>⚠️ Отказ от ложных обещаний («Открыто сейчас»)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Система избегает категоричных утверждений о доступности заведений при неполных данных. Вместо этого выводится вежливая рекомендация уточнить часы перед посещением.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92624"/>
            <a:ext cx="10698480" cy="1024128"/>
          </a:xfrm>
          <a:prstGeom prst="roundRect">
            <a:avLst/>
          </a:prstGeom>
          <a:solidFill>
            <a:srgbClr val="111A30"/>
          </a:solidFill>
          <a:ln w="1270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A68FF"/>
                </a:solidFill>
              </a:defRPr>
            </a:pPr>
            <a:r>
              <a:t>🔊 Инклюзивный Голосовой Аудиогид (TTS)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Встроенный синтез речи позволяет людям с нарушениями зрения или тем, кто идет пешком в наушниках, прослушать рекомендацию без необходимости смотреть в экран телефона.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ЭКОНОМИКА И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Ценность для города и 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07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AFF"/>
                </a:solidFill>
              </a:defRPr>
            </a:pPr>
            <a:r>
              <a:t>🏛️ ДЛЯ ГОРОДА И АКИМАТА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Умный туризм и культура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Разгрузка популярных локаций и распределение турпотока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Популяризация культурного наследия и музеев Астаны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Пешеходная доступность и пропаганда здорового образа жизни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Интеграция с городскими событиями и ярмарками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E09A"/>
                </a:solidFill>
              </a:defRPr>
            </a:pPr>
            <a:r>
              <a:t>💼 ДЛЯ БИЗНЕСА И 2GIS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Партнерская экосистема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1-click бесшовный переход в 2GIS, Яндекс Карты и Google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Органический приток пешеходного трафика в локальные кафе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Нативная подсветка спешелти-кофеен с розетками и Wi-Fi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B2B API для отелей (Hilton, Marriott) и туристских инфоцентров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C436"/>
                </a:solidFill>
              </a:defRPr>
            </a:pPr>
            <a:r>
              <a:t>💰 ЭКОНОМИКА РЕШЕНИЯ</a:t>
            </a:r>
          </a:p>
          <a:p>
            <a:pPr>
              <a:defRPr sz="1100" b="1">
                <a:solidFill>
                  <a:srgbClr val="96ADD1"/>
                </a:solidFill>
              </a:defRPr>
            </a:pPr>
            <a:r>
              <a:t>Низкая стоимость владения</a:t>
            </a:r>
          </a:p>
          <a:p/>
          <a:p>
            <a:pPr>
              <a:defRPr sz="1100">
                <a:solidFill>
                  <a:srgbClr val="FFFFFF"/>
                </a:solidFill>
              </a:defRPr>
            </a:pPr>
            <a:r>
              <a:t>✔ Микро-затраты на LLM: DeepSeek-V3 стоит $0.14 за 1M токенов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Один запрос обходится городу в &lt; 0.0001 $ (доли тенге)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Автономный fallback на Local RAG при сбоях сети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✔ Масштабируемость до миллионов туристов без роста затрат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926080" cy="32004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AFF"/>
                </a:solidFill>
              </a:defRPr>
            </a:pPr>
            <a:r>
              <a:t>TEAM ESPADA · КОМАНДА ESPADA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План развития (Roadmap) и финал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840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DD1"/>
                </a:solidFill>
              </a:defRPr>
            </a:pPr>
            <a:r>
              <a:t>08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365760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2E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E09A"/>
                </a:solidFill>
              </a:defRPr>
            </a:pPr>
            <a:r>
              <a:t>ЭТАП 1: ТЕКУЩИЙ MVP (СДЕЛАНО)</a:t>
            </a:r>
          </a:p>
          <a:p>
            <a:pPr>
              <a:defRPr sz="1050" b="1">
                <a:solidFill>
                  <a:srgbClr val="96ADD1"/>
                </a:solidFill>
              </a:defRPr>
            </a:pPr>
            <a:r>
              <a:t>Хакатон Build with AI</a:t>
            </a:r>
          </a:p>
          <a:p/>
          <a:p>
            <a:pPr>
              <a:defRPr sz="1050">
                <a:solidFill>
                  <a:srgbClr val="FFFFFF"/>
                </a:solidFill>
              </a:defRPr>
            </a:pPr>
            <a:r>
              <a:t>✦ Рабочий двухэтапный RAG-движок (DeepSeek-V3 + Local)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821 валидированная точка POI Астаны с автосинхронизацией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Все 5 сценариев ТЗ и 5 стретч-целей полностью закрыты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Интерактивная карта Leaflet, мобильная адаптация и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365760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AFF"/>
                </a:solidFill>
              </a:defRPr>
            </a:pPr>
            <a:r>
              <a:t>ЭТАП 2: БЛИЖАЙШИЕ 3 МЕСЯЦА</a:t>
            </a:r>
          </a:p>
          <a:p>
            <a:pPr>
              <a:defRPr sz="1050" b="1">
                <a:solidFill>
                  <a:srgbClr val="96ADD1"/>
                </a:solidFill>
              </a:defRPr>
            </a:pPr>
            <a:r>
              <a:t>Городское внедрение</a:t>
            </a:r>
          </a:p>
          <a:p/>
          <a:p>
            <a:pPr>
              <a:defRPr sz="1050">
                <a:solidFill>
                  <a:srgbClr val="FFFFFF"/>
                </a:solidFill>
              </a:defRPr>
            </a:pPr>
            <a:r>
              <a:t>✦ Telegram WebApp бот (@QalaAstanaBot) с 1-click маршрутами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Интеграция с CTS (автобусы и линия LRT Астаны)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Расширение базы POI на правый берег и старый город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Подключение афиши городских событий Astana Tourism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3657600"/>
          </a:xfrm>
          <a:prstGeom prst="roundRect">
            <a:avLst/>
          </a:prstGeom>
          <a:solidFill>
            <a:srgbClr val="111A30"/>
          </a:solidFill>
          <a:ln w="1905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A68FF"/>
                </a:solidFill>
              </a:defRPr>
            </a:pPr>
            <a:r>
              <a:t>ЭТАП 3: ДОЛГОСРОЧНО (6–12 МЕС)</a:t>
            </a:r>
          </a:p>
          <a:p>
            <a:pPr>
              <a:defRPr sz="1050" b="1">
                <a:solidFill>
                  <a:srgbClr val="96ADD1"/>
                </a:solidFill>
              </a:defRPr>
            </a:pPr>
            <a:r>
              <a:t>Экосистема Smart City</a:t>
            </a:r>
          </a:p>
          <a:p/>
          <a:p>
            <a:pPr>
              <a:defRPr sz="1050">
                <a:solidFill>
                  <a:srgbClr val="FFFFFF"/>
                </a:solidFill>
              </a:defRPr>
            </a:pPr>
            <a:r>
              <a:t>✦ Интеграция в городское приложение Smart Astana / eGov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Голосовой диалоговый ассистент для умных остановок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Персонализация на основе предпочтений пользователя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✦ Тиражирование на другие города (Алматы, Шымкент)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22344"/>
          </a:solidFill>
          <a:ln w="25400">
            <a:solidFill>
              <a:srgbClr val="FFC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436"/>
                </a:solidFill>
              </a:defRPr>
            </a:pPr>
            <a:r>
              <a:t>⚔️ КОМАНДА ESPADA · МЫ ГОТОВЫ К ВОПРОСАМ ЖЮРИ!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Живое демо: http://127.0.0.1:8765 · Документация API: /api/docs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