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BUILD WITH AI · ТРЕК 1: НИЦ SMART CITY &amp; GDG ASTANA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QALA ASTANA 2.0</a:t>
            </a:r>
          </a:p>
          <a:p>
            <a:pPr>
              <a:defRPr sz="2400">
                <a:solidFill>
                  <a:srgbClr val="38EF7D"/>
                </a:solidFill>
              </a:defRPr>
            </a:pPr>
            <a:r>
              <a:t>Интеллектуальный ИИ-помощник по прогулкам в городе Астана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BB0D3"/>
                </a:solidFill>
              </a:defRPr>
            </a:pPr>
            <a:r>
              <a:t>Рабочая RAG-система реального времени, которая подсказывает пользователю, куда сходить и что сделать поблизости с учетом локации, времени, компании, доступной среды и городской афиши.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✨ Реализованы все 5 стретч-целей: Мини-маршруты · Мультиязычность KZ/RU/EN · Доступная среда · Групповое планирование · Афиша событий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КОНЦЕПЦИЯ И 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Пользовательские сценарии и задача из ТЗ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BB0D3"/>
                </a:solidFill>
              </a:defRPr>
            </a:pPr>
            <a: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BB0D3"/>
                </a:solidFill>
              </a:defRPr>
            </a:pPr>
            <a:r>
              <a:t>Проблема: когда есть 30–60 минут, искать места по разным картам неудобно, а стандартные LLM галлюцинируют.</a:t>
            </a:r>
          </a:p>
          <a:p>
            <a:pPr>
              <a:defRPr sz="1500" b="1">
                <a:solidFill>
                  <a:srgbClr val="00F2FE"/>
                </a:solidFill>
              </a:defRPr>
            </a:pPr>
            <a:r>
              <a:t>• 1. Прогулка у Mega Silk Way (30–60 мин): </a:t>
            </a:r>
            <a:r>
              <a:rPr b="0">
                <a:solidFill>
                  <a:srgbClr val="FFFFFF"/>
                </a:solidFill>
              </a:rPr>
              <a:t>Подбор ТРЦ Mega Silk Way, Линейного парка Экспо и сферы Нұр Әлем с оценкой пути пешком.</a:t>
            </a:r>
          </a:p>
          <a:p>
            <a:pPr>
              <a:defRPr sz="1500" b="1">
                <a:solidFill>
                  <a:srgbClr val="00F2FE"/>
                </a:solidFill>
              </a:defRPr>
            </a:pPr>
            <a:r>
              <a:t>• 2. Тихое кафе с розеткой и Wi-Fi: </a:t>
            </a:r>
            <a:r>
              <a:rPr b="0">
                <a:solidFill>
                  <a:srgbClr val="FFFFFF"/>
                </a:solidFill>
              </a:rPr>
              <a:t>Верификация розеток, Wi-Fi и спокойной атмосферы для работы (Кафе «Көктем»).</a:t>
            </a:r>
          </a:p>
          <a:p>
            <a:pPr>
              <a:defRPr sz="1500" b="1">
                <a:solidFill>
                  <a:srgbClr val="00F2FE"/>
                </a:solidFill>
              </a:defRPr>
            </a:pPr>
            <a:r>
              <a:t>• 3. С ребёнком (площадки / интерактивы): </a:t>
            </a:r>
            <a:r>
              <a:rPr b="0">
                <a:solidFill>
                  <a:srgbClr val="FFFFFF"/>
                </a:solidFill>
              </a:rPr>
              <a:t>Интерактивный парк Happylon Ocean Park, детские городки и 8 этажей экспозиций Нұр Әлем.</a:t>
            </a:r>
          </a:p>
          <a:p>
            <a:pPr>
              <a:defRPr sz="1500" b="1">
                <a:solidFill>
                  <a:srgbClr val="00F2FE"/>
                </a:solidFill>
              </a:defRPr>
            </a:pPr>
            <a:r>
              <a:t>• 4. Турист с 2 часами перед вылетом (Аэропорт): </a:t>
            </a:r>
            <a:r>
              <a:rPr b="0">
                <a:solidFill>
                  <a:srgbClr val="FFFFFF"/>
                </a:solidFill>
              </a:rPr>
              <a:t>Честное информирование о границах покрытия Астаны без ложных галлюцинаций.</a:t>
            </a:r>
          </a:p>
          <a:p>
            <a:pPr>
              <a:defRPr sz="1500" b="1">
                <a:solidFill>
                  <a:srgbClr val="00F2FE"/>
                </a:solidFill>
              </a:defRPr>
            </a:pPr>
            <a:r>
              <a:t>• 5. Необычная ночная активность: </a:t>
            </a:r>
            <a:r>
              <a:rPr b="0">
                <a:solidFill>
                  <a:srgbClr val="FFFFFF"/>
                </a:solidFill>
              </a:rPr>
              <a:t>Видовая терраса на крыше отеля Hilton (The Cloud Bar) до 02:00, ночные пабы и вечерняя подсветка.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ТЕХНИЧЕСКАЯ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Архитектура двухэтапного RAG-подхода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BB0D3"/>
                </a:solidFill>
              </a:defRPr>
            </a:pPr>
            <a: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8EF7D"/>
                </a:solidFill>
              </a:defRPr>
            </a:pPr>
            <a:r>
              <a:t>ЭТАП 1: RETRIEVAL (Умный сбор и семантический поиск)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- Автоматический сбор Overpass API (OSM) + Обогащение из реестра Smart City: 821 проверенный POI.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- Мультиязычные поля: названия и описания на казахском (KK), русском (RU), английском (EN).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- Гибридный BM25 + Intent matching: учет интентов («кофе», «детям», «ночь», «группа», «коляска»).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- Пространственный расчет Haversine + матрица пеших маршрутов OpenRouteService (ORS).</a:t>
            </a:r>
          </a:p>
          <a:p>
            <a:pPr>
              <a:defRPr sz="1600" b="1">
                <a:solidFill>
                  <a:srgbClr val="38EF7D"/>
                </a:solidFill>
              </a:defRPr>
            </a:pPr>
            <a:r>
              <a:t>ЭТАП 2: GENERATION (Генерация обоснований и плана действий)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- Поддержка Gemini 2.5 Flash, DeepSeek Flash и встроенного Intelligent Local RAG Engine.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- Strict Grounding: Модель опирается исключительно на поля POI и не галлюцинирует.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- Генерация двух обязательных блоков: «Почему подходит» (мотивация) и «Что сделать там» (план).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ФОРМАТ ВЫВОДА И ЧЕСТНОСТЬ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Контракт ответа и достоверность информации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BB0D3"/>
                </a:solidFill>
              </a:defRPr>
            </a:pPr>
            <a: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0F2FE"/>
                </a:solidFill>
              </a:defRPr>
            </a:pPr>
            <a:r>
              <a:t>✔ 1–3 конкретные рекомендации: </a:t>
            </a:r>
            <a:r>
              <a:rPr b="0">
                <a:solidFill>
                  <a:srgbClr val="FFFFFF"/>
                </a:solidFill>
              </a:rPr>
              <a:t>Оптимальный объем без информационной перегрузки; ранжирование по релевантности.</a:t>
            </a:r>
          </a:p>
          <a:p>
            <a:pPr>
              <a:defRPr sz="1400" b="1">
                <a:solidFill>
                  <a:srgbClr val="00F2FE"/>
                </a:solidFill>
              </a:defRPr>
            </a:pPr>
            <a:r>
              <a:t>✔ Рейтинг и отзывы: </a:t>
            </a:r>
            <a:r>
              <a:rPr b="0">
                <a:solidFill>
                  <a:srgbClr val="FFFFFF"/>
                </a:solidFill>
              </a:rPr>
              <a:t>Звездочный рейтинг (⭐ 4.8) и объем подтвержденных отзывов для доверия.</a:t>
            </a:r>
          </a:p>
          <a:p>
            <a:pPr>
              <a:defRPr sz="1400" b="1">
                <a:solidFill>
                  <a:srgbClr val="00F2FE"/>
                </a:solidFill>
              </a:defRPr>
            </a:pPr>
            <a:r>
              <a:t>✔ Время в пути и время на месте: </a:t>
            </a:r>
            <a:r>
              <a:rPr b="0">
                <a:solidFill>
                  <a:srgbClr val="FFFFFF"/>
                </a:solidFill>
              </a:rPr>
              <a:t>Раздельный показ: пешком (ORS или оценка) + ориентир длительности визита по категории.</a:t>
            </a:r>
          </a:p>
          <a:p>
            <a:pPr>
              <a:defRPr sz="1400" b="1">
                <a:solidFill>
                  <a:srgbClr val="00F2FE"/>
                </a:solidFill>
              </a:defRPr>
            </a:pPr>
            <a:r>
              <a:t>✔ Почему подходит + Что сделать там: </a:t>
            </a:r>
            <a:r>
              <a:rPr b="0">
                <a:solidFill>
                  <a:srgbClr val="FFFFFF"/>
                </a:solidFill>
              </a:rPr>
              <a:t>Краткая мотивация с учетом контекста + конкретный сценарий действий на месте.</a:t>
            </a:r>
          </a:p>
          <a:p>
            <a:pPr>
              <a:defRPr sz="1400" b="1">
                <a:solidFill>
                  <a:srgbClr val="00F2FE"/>
                </a:solidFill>
              </a:defRPr>
            </a:pPr>
            <a:r>
              <a:t>✔ Актуальная городская афиша: </a:t>
            </a:r>
            <a:r>
              <a:rPr b="0">
                <a:solidFill>
                  <a:srgbClr val="FFFFFF"/>
                </a:solidFill>
              </a:rPr>
              <a:t>Интеграция временных выставок («Зеленый прорыв 2030»), световых шоу и живой музыки.</a:t>
            </a:r>
          </a:p>
          <a:p>
            <a:pPr>
              <a:defRPr sz="1400" b="1">
                <a:solidFill>
                  <a:srgbClr val="00F2FE"/>
                </a:solidFill>
              </a:defRPr>
            </a:pPr>
            <a:r>
              <a:t>✔ Честная маркировка и часы: </a:t>
            </a:r>
            <a:r>
              <a:rPr b="0">
                <a:solidFill>
                  <a:srgbClr val="FFFFFF"/>
                </a:solidFill>
              </a:rPr>
              <a:t>Часы работы сопровождаются напоминанием «уточните перед визитом», исключая ложные обещания.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БАЛЛЫ ЗА КРЕАТИВНОСТЬ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Реализация всех 5 стретч-целей хакатона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BB0D3"/>
                </a:solidFill>
              </a:defRPr>
            </a:pPr>
            <a: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FFD166"/>
                </a:solidFill>
              </a:defRPr>
            </a:pPr>
            <a:r>
              <a:t>★ 🚶 Мини-маршрут (цепочка 3 мест): </a:t>
            </a:r>
            <a:r>
              <a:rPr b="0">
                <a:solidFill>
                  <a:srgbClr val="FFFFFF"/>
                </a:solidFill>
              </a:rPr>
              <a:t>Построение логической последовательности (Старт -&gt; Кульминация -&gt; Финал). Расчет сегментов пути, времени на местах, общего хронометража и отрисовка линии на карте!</a:t>
            </a:r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★ 🌐 Мультиязычность (KZ / RU / EN): </a:t>
            </a:r>
            <a:r>
              <a:rPr b="0">
                <a:solidFill>
                  <a:srgbClr val="FFFFFF"/>
                </a:solidFill>
              </a:rPr>
              <a:t>Полная локализация интерфейса и генерация ответов на казахском, русском и английском языках.</a:t>
            </a:r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★ ♿ Доступная среда (Wheelchair): </a:t>
            </a:r>
            <a:r>
              <a:rPr b="0">
                <a:solidFill>
                  <a:srgbClr val="FFFFFF"/>
                </a:solidFill>
              </a:rPr>
              <a:t>Фильтрация для маломобильных граждан: отбор объектов с подтвержденными пандусами и лифтами.</a:t>
            </a:r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★ 👥 Групповое планирование: </a:t>
            </a:r>
            <a:r>
              <a:rPr b="0">
                <a:solidFill>
                  <a:srgbClr val="FFFFFF"/>
                </a:solidFill>
              </a:rPr>
              <a:t>Специальный режим для компаний из 3–5 человек: просторные посадки, командные активности.</a:t>
            </a:r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★ 🎪 Городские события и афиша: </a:t>
            </a:r>
            <a:r>
              <a:rPr b="0">
                <a:solidFill>
                  <a:srgbClr val="FFFFFF"/>
                </a:solidFill>
              </a:rPr>
              <a:t>Интеграция временных выставок и вечерних шоу (Нұр Әлем, Байтерек, Hilton Rooftop).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БЕЗОПАСНОСТЬ ПОЛЬЗОВАТЕЛЕЙ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Этика, Privacy и защита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BB0D3"/>
                </a:solidFill>
              </a:defRPr>
            </a:pPr>
            <a: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38EF7D"/>
                </a:solidFill>
              </a:defRPr>
            </a:pPr>
            <a:r>
              <a:t>🛡️ Ноль хранения координат: </a:t>
            </a:r>
            <a:r>
              <a:rPr b="0">
                <a:solidFill>
                  <a:srgbClr val="FFFFFF"/>
                </a:solidFill>
              </a:rPr>
              <a:t>Геолокация пользователя обрабатывается исключительно в оперативной памяти во время запроса. Координаты не записываются в базу данных, файлы или серверные логи.</a:t>
            </a:r>
          </a:p>
          <a:p>
            <a:pPr>
              <a:defRPr sz="1500" b="1">
                <a:solidFill>
                  <a:srgbClr val="38EF7D"/>
                </a:solidFill>
              </a:defRPr>
            </a:pPr>
            <a:r>
              <a:t>🛡️ Изоляция внешних LLM: </a:t>
            </a:r>
            <a:r>
              <a:rPr b="0">
                <a:solidFill>
                  <a:srgbClr val="FFFFFF"/>
                </a:solidFill>
              </a:rPr>
              <a:t>Во внешние модели (Gemini / DeepSeek) передаются только текст запроса и обезличенные описания POI. Координаты пользователя в сторонние сервисы ИИ не отправляются.</a:t>
            </a:r>
          </a:p>
          <a:p>
            <a:pPr>
              <a:defRPr sz="1500" b="1">
                <a:solidFill>
                  <a:srgbClr val="38EF7D"/>
                </a:solidFill>
              </a:defRPr>
            </a:pPr>
            <a:r>
              <a:t>🛡️ Прозрачная атрибуция: </a:t>
            </a:r>
            <a:r>
              <a:rPr b="0">
                <a:solidFill>
                  <a:srgbClr val="FFFFFF"/>
                </a:solidFill>
              </a:rPr>
              <a:t>Пользователь всегда видит источник данных: что является верифицированным фактом из реестра POI, а что — сгенерированной идеей модели.</a:t>
            </a:r>
          </a:p>
          <a:p>
            <a:pPr>
              <a:defRPr sz="1500" b="1">
                <a:solidFill>
                  <a:srgbClr val="38EF7D"/>
                </a:solidFill>
              </a:defRPr>
            </a:pPr>
            <a:r>
              <a:t>🛡️ Защита от Prompt Injection: </a:t>
            </a:r>
            <a:r>
              <a:rPr b="0">
                <a:solidFill>
                  <a:srgbClr val="FFFFFF"/>
                </a:solidFill>
              </a:rPr>
              <a:t>Все пользовательские данные и тексты POI изолированы как недоверенный ввод в строгом системном промпте.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ПЛАН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Итоги, готовность и 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BB0D3"/>
                </a:solidFill>
              </a:defRPr>
            </a:pPr>
            <a: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ТЕКУЩИЙ СТАТУС ПРОЕКТА: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✔ База данных: 821 POI Астаны (центр, набережная, Expo, Mega Silk Way).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✔ Прототип: интерактивное веб-приложение с картой, быстрыми кейсами и режимом мини-маршрутов.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✔ Качество и тесты: 23 автоматических unit-теста пройдены на 100%.</a:t>
            </a:r>
          </a:p>
          <a:p>
            <a:pPr>
              <a:defRPr sz="1600" b="1">
                <a:solidFill>
                  <a:srgbClr val="FFD166"/>
                </a:solidFill>
              </a:defRPr>
            </a:pPr>
            <a:r>
              <a:t>ДОРОЖНАЯ КАРТА РАЗВИТИЯ: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🚀 1. Расширение географии: включение правого берега Астаны и зоны аэропорта.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🚀 2. Интеграция с CTS: учет времени автобусов и будущей линии Astana LRT в пеших маршрутах.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🚀 3. Партнерство с Astana Tourism и акиматом для автоматической синхронизации событий и фестивалей.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